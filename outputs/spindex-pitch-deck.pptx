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6cdf64e804d2a" /><Relationship Type="http://schemas.openxmlformats.org/officeDocument/2006/relationships/extended-properties" Target="/docProps/app.xml" Id="R421aefd29f0a4b29" /><Relationship Type="http://schemas.openxmlformats.org/officeDocument/2006/relationships/officeDocument" Target="/ppt/presentation.xml" Id="R0e0f1f406e6340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4bc71fa6bf4abe"/>
  </p:sldMasterIdLst>
  <p:notesMasterIdLst>
    <p:notesMasterId xmlns:r="http://schemas.openxmlformats.org/officeDocument/2006/relationships" r:id="R72cc3bec0cdf4733"/>
  </p:notesMasterIdLst>
  <p:sldIdLst>
    <p:sldId xmlns:r="http://schemas.openxmlformats.org/officeDocument/2006/relationships" id="256" r:id="R86e320725e014f3d"/>
    <p:sldId xmlns:r="http://schemas.openxmlformats.org/officeDocument/2006/relationships" id="257" r:id="R0cfe8e3c45ba48f8"/>
    <p:sldId xmlns:r="http://schemas.openxmlformats.org/officeDocument/2006/relationships" id="258" r:id="Rfc17dba245b245b5"/>
    <p:sldId xmlns:r="http://schemas.openxmlformats.org/officeDocument/2006/relationships" id="259" r:id="R8386effd79f24848"/>
    <p:sldId xmlns:r="http://schemas.openxmlformats.org/officeDocument/2006/relationships" id="260" r:id="Rda97e565440e4aba"/>
    <p:sldId xmlns:r="http://schemas.openxmlformats.org/officeDocument/2006/relationships" id="261" r:id="Rec90d38d28904d3a"/>
    <p:sldId xmlns:r="http://schemas.openxmlformats.org/officeDocument/2006/relationships" id="262" r:id="R8caaea4bb3e741a3"/>
    <p:sldId xmlns:r="http://schemas.openxmlformats.org/officeDocument/2006/relationships" id="263" r:id="Rebc45412e1914588"/>
    <p:sldId xmlns:r="http://schemas.openxmlformats.org/officeDocument/2006/relationships" id="264" r:id="Rcd04d12bd2d448a9"/>
    <p:sldId xmlns:r="http://schemas.openxmlformats.org/officeDocument/2006/relationships" id="265" r:id="R4a463dd56a3641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e6570885c54135" /><Relationship Type="http://schemas.openxmlformats.org/officeDocument/2006/relationships/slideMaster" Target="/ppt/slideMasters/slideMaster1.xml" Id="R354bc71fa6bf4abe" /><Relationship Type="http://schemas.openxmlformats.org/officeDocument/2006/relationships/notesMaster" Target="/ppt/notesMasters/notesMaster1.xml" Id="R72cc3bec0cdf4733" /><Relationship Type="http://schemas.openxmlformats.org/officeDocument/2006/relationships/presProps" Target="/ppt/presProps.xml" Id="R3de42a344d4a460e" /><Relationship Type="http://schemas.openxmlformats.org/officeDocument/2006/relationships/tableStyles" Target="/ppt/tableStyles.xml" Id="R444f987743a2421e" /><Relationship Type="http://schemas.openxmlformats.org/officeDocument/2006/relationships/slide" Target="/ppt/slides/slide1.xml" Id="R86e320725e014f3d" /><Relationship Type="http://schemas.openxmlformats.org/officeDocument/2006/relationships/slide" Target="/ppt/slides/slide2.xml" Id="R0cfe8e3c45ba48f8" /><Relationship Type="http://schemas.openxmlformats.org/officeDocument/2006/relationships/slide" Target="/ppt/slides/slide3.xml" Id="Rfc17dba245b245b5" /><Relationship Type="http://schemas.openxmlformats.org/officeDocument/2006/relationships/slide" Target="/ppt/slides/slide4.xml" Id="R8386effd79f24848" /><Relationship Type="http://schemas.openxmlformats.org/officeDocument/2006/relationships/slide" Target="/ppt/slides/slide5.xml" Id="Rda97e565440e4aba" /><Relationship Type="http://schemas.openxmlformats.org/officeDocument/2006/relationships/slide" Target="/ppt/slides/slide6.xml" Id="Rec90d38d28904d3a" /><Relationship Type="http://schemas.openxmlformats.org/officeDocument/2006/relationships/slide" Target="/ppt/slides/slide7.xml" Id="R8caaea4bb3e741a3" /><Relationship Type="http://schemas.openxmlformats.org/officeDocument/2006/relationships/slide" Target="/ppt/slides/slide8.xml" Id="Rebc45412e1914588" /><Relationship Type="http://schemas.openxmlformats.org/officeDocument/2006/relationships/slide" Target="/ppt/slides/slide9.xml" Id="Rcd04d12bd2d448a9" /><Relationship Type="http://schemas.openxmlformats.org/officeDocument/2006/relationships/slide" Target="/ppt/slides/slide10.xml" Id="R4a463dd56a3641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c5771109ee41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94a9846b934a00" /><Relationship Type="http://schemas.openxmlformats.org/officeDocument/2006/relationships/notesMaster" Target="/ppt/notesMasters/notesMaster1.xml" Id="R46746c54504b48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0fcb83e0c341a4" /><Relationship Type="http://schemas.openxmlformats.org/officeDocument/2006/relationships/notesMaster" Target="/ppt/notesMasters/notesMaster1.xml" Id="R8e3652b93bd143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6717df5139400a" /><Relationship Type="http://schemas.openxmlformats.org/officeDocument/2006/relationships/notesMaster" Target="/ppt/notesMasters/notesMaster1.xml" Id="Re2cf3996d8574e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f667a64f62411f" /><Relationship Type="http://schemas.openxmlformats.org/officeDocument/2006/relationships/notesMaster" Target="/ppt/notesMasters/notesMaster1.xml" Id="R345f8bd0be9b49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f8b7e291234916" /><Relationship Type="http://schemas.openxmlformats.org/officeDocument/2006/relationships/notesMaster" Target="/ppt/notesMasters/notesMaster1.xml" Id="Reea424c256014f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993c98d8f44a60" /><Relationship Type="http://schemas.openxmlformats.org/officeDocument/2006/relationships/notesMaster" Target="/ppt/notesMasters/notesMaster1.xml" Id="Rba525c520d9d4b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8f79dbcdbb47f6" /><Relationship Type="http://schemas.openxmlformats.org/officeDocument/2006/relationships/notesMaster" Target="/ppt/notesMasters/notesMaster1.xml" Id="Rce4bdbb160c84c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979abd9638432f" /><Relationship Type="http://schemas.openxmlformats.org/officeDocument/2006/relationships/notesMaster" Target="/ppt/notesMasters/notesMaster1.xml" Id="Ra9be75f2949041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d74607bf0a434d" /><Relationship Type="http://schemas.openxmlformats.org/officeDocument/2006/relationships/notesMaster" Target="/ppt/notesMasters/notesMaster1.xml" Id="R65b433c6ee7441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1d7631c5894763" /><Relationship Type="http://schemas.openxmlformats.org/officeDocument/2006/relationships/notesMaster" Target="/ppt/notesMasters/notesMaster1.xml" Id="R090f244a4a5a48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ad97dd0db42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c4327be19a4dd9" /><Relationship Type="http://schemas.openxmlformats.org/officeDocument/2006/relationships/slideLayout" Target="/ppt/slideLayouts/slideLayout1.xml" Id="R8f2f35e6aef346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2f35e6aef346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be10d54544fcf" /><Relationship Type="http://schemas.openxmlformats.org/officeDocument/2006/relationships/image" Target="/ppt/media/image.png" Id="Re38ab2c3dea4492b" /><Relationship Type="http://schemas.openxmlformats.org/officeDocument/2006/relationships/image" Target="/ppt/media/image2.png" Id="R3d8f375c283b4f20" /><Relationship Type="http://schemas.openxmlformats.org/officeDocument/2006/relationships/notesSlide" Target="/ppt/notesSlides/notesSlide1.xml" Id="R258086e7055346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ee4bea8bf402a" /><Relationship Type="http://schemas.openxmlformats.org/officeDocument/2006/relationships/notesSlide" Target="/ppt/notesSlides/notesSlide2.xml" Id="R819bd415608b4d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3eb16847e40f6" /><Relationship Type="http://schemas.openxmlformats.org/officeDocument/2006/relationships/notesSlide" Target="/ppt/notesSlides/notesSlide3.xml" Id="R46b58537bf6048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d6bc6cfea43b1" /><Relationship Type="http://schemas.openxmlformats.org/officeDocument/2006/relationships/image" Target="/ppt/media/image3.png" Id="R340152bc4166455b" /><Relationship Type="http://schemas.openxmlformats.org/officeDocument/2006/relationships/notesSlide" Target="/ppt/notesSlides/notesSlide4.xml" Id="Rebce3110488442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5e92912bc45bd" /><Relationship Type="http://schemas.openxmlformats.org/officeDocument/2006/relationships/notesSlide" Target="/ppt/notesSlides/notesSlide5.xml" Id="R46af8d613d6f45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b3f7936ab499c" /><Relationship Type="http://schemas.openxmlformats.org/officeDocument/2006/relationships/image" Target="/ppt/media/image4.png" Id="R2e3d43b5e20744d9" /><Relationship Type="http://schemas.openxmlformats.org/officeDocument/2006/relationships/image" Target="/ppt/media/image5.png" Id="R9f04aef4bcb04c58" /><Relationship Type="http://schemas.openxmlformats.org/officeDocument/2006/relationships/notesSlide" Target="/ppt/notesSlides/notesSlide6.xml" Id="Re6409f137b2c46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15948dcd748d1" /><Relationship Type="http://schemas.openxmlformats.org/officeDocument/2006/relationships/image" Target="/ppt/media/image6.png" Id="Rb3c4ddfa8ff246de" /><Relationship Type="http://schemas.openxmlformats.org/officeDocument/2006/relationships/image" Target="/ppt/media/image7.png" Id="R2e1c3bf2a8954ea6" /><Relationship Type="http://schemas.openxmlformats.org/officeDocument/2006/relationships/notesSlide" Target="/ppt/notesSlides/notesSlide7.xml" Id="R372621ec223b4c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d285691774541" /><Relationship Type="http://schemas.openxmlformats.org/officeDocument/2006/relationships/image" Target="/ppt/media/image8.png" Id="R159f758def7f4897" /><Relationship Type="http://schemas.openxmlformats.org/officeDocument/2006/relationships/image" Target="/ppt/media/image9.png" Id="R5e3ec9683e8248c4" /><Relationship Type="http://schemas.openxmlformats.org/officeDocument/2006/relationships/notesSlide" Target="/ppt/notesSlides/notesSlide8.xml" Id="R89aaf1f9d06447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eb203acd54407" /><Relationship Type="http://schemas.openxmlformats.org/officeDocument/2006/relationships/notesSlide" Target="/ppt/notesSlides/notesSlide9.xml" Id="R935195851e0040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fa8af8a454f48" /><Relationship Type="http://schemas.openxmlformats.org/officeDocument/2006/relationships/image" Target="/ppt/media/image10.png" Id="R7d6ecb694df44245" /><Relationship Type="http://schemas.openxmlformats.org/officeDocument/2006/relationships/notesSlide" Target="/ppt/notesSlides/notesSlide10.xml" Id="Ra4eb04a1639241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ab2c3dea4492b"/>
          <a:srcRect xmlns:a="http://schemas.openxmlformats.org/drawingml/2006/main" l="0" t="1431" r="0" b="1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0"/>
            <a:ext cx="4991100" cy="6858000"/>
          </a:xfrm>
          <a:prstGeom xmlns:a="http://schemas.openxmlformats.org/drawingml/2006/main" prst="roundRect">
            <a:avLst>
              <a:gd name="adj" fmla="val 1527"/>
            </a:avLst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f375c283b4f20"/>
          <a:stretch xmlns:a="http://schemas.openxmlformats.org/drawingml/2006/main"/>
        </p:blipFill>
        <p:spPr>
          <a:xfrm xmlns:a="http://schemas.openxmlformats.org/drawingml/2006/main">
            <a:off x="495300" y="631613"/>
            <a:ext cx="3733800" cy="908475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D931D-753D-4657-BD29-267D61E6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810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community app for Beyblade X gatherings and tournaments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13CEA-5497-4B33-A35C-B0589EFD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9C5D4"/>
                </a:solidFill>
                <a:latin typeface="Helvetica Neue"/>
                <a:ea typeface="Helvetica Neue"/>
                <a:cs typeface="Helvetica Neue"/>
              </a:rPr>
              <a:t>Built to run local meetups, structured events, live scoring, and player identity in one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971DB-3461-4602-BF5C-AEFF715F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E5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0D841-567F-45F9-8484-6E694960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Malaysia pilot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B81E7-ED3C-4878-BA90-2321152F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91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C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C5D4"/>
                </a:solidFill>
                <a:latin typeface="Helvetica Neue"/>
                <a:ea typeface="Helvetica Neue"/>
                <a:cs typeface="Helvetica Neue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2057623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9C04B-1F6E-4934-A056-18EE02D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8F360-1A87-45D6-BA18-B17528F5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Social sports apps prove the behavior; Spindex owns the Beyblade X version.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2D6AD-1020-4173-AAA9-FD149915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Reclub's public positioning centers on running clubs, meets, competitions, and community in one product. Spindex applies that same operating model to a tighter, underserved niche: bladers who need recurring gatherings and credible tournaments.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1EA8A-6D8D-4D08-BDF7-4D2A8EFE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B8121-13C3-4A0F-BD66-CC904B65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8C36D-F7B8-48AA-8C92-D5476660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90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Find nearby bladers, events, shops, and club activity.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AF431-C536-457E-92E8-E9074BC6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51B44-AE4A-4B12-AFA6-B60B199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86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Gather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A36DC-556D-4567-8E2A-BAD09ECD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190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Post meetups with place, time, fee, capacity, RSVP, and waitlist.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CF895-0DF2-4321-A758-5DF2289C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600FF-3D44-4C4E-A899-EA8BCFBC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Compete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C1583-6122-40C3-B39B-B39C60E3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190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Run brackets, partner leagues, scoring, IDs, and BEYLIVE displays.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620ED-EE69-44AC-BC68-BCC82052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7660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2A0A1-5B13-4F1E-96CE-FC7026B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86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Remember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96D33-E4FC-41AC-93FC-6572B0C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190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Turn results into rankings, profiles, stars, and shareable community history.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864C7-FEAD-4082-8180-30B7ABC4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B8797"/>
                </a:solidFill>
                <a:latin typeface="Helvetica Neue"/>
                <a:ea typeface="Helvetica Neue"/>
                <a:cs typeface="Helvetica Neue"/>
              </a:rPr>
              <a:t>Sources: Reclub official site and Apple App Store listing; Spindex repo and local screenshots.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59061-48B9-407E-B570-A64AE9C0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SPINDEX Malaysia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FD7AE-037B-4B2D-BAB0-138058AE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9009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21828-5EB3-40CE-A2A6-7D7AD68B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9D727-9A06-4548-838C-922AC238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gap is not interest; it is coordination.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3999C-1126-4C20-962A-D3E9315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Beyblade X communities already gather in stores, malls, and local groups. What breaks down is the operating layer around the play.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EC7D4-5B76-4473-8478-84233E02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0EDC1-2BB5-46B2-B2AF-1A922223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2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5252"/>
                </a:solidFill>
                <a:latin typeface="Helvetica Neue"/>
                <a:ea typeface="Helvetica Neue"/>
                <a:cs typeface="Helvetica Neue"/>
              </a:rPr>
              <a:t>Discovery is scattered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57AA8-B052-4EC9-AAB9-693AF5B7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114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Players rely on chat groups, word of mouth, and store posts to know where play is happening.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2CC0D-5F44-40F7-8A7B-865E6D68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5A33E-E122-407D-A88F-9B65C27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0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B020"/>
                </a:solidFill>
                <a:latin typeface="Helvetica Neue"/>
                <a:ea typeface="Helvetica Neue"/>
                <a:cs typeface="Helvetica Neue"/>
              </a:rPr>
              <a:t>Hosting is manual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47F80-B842-4A3C-A077-58C2ED0C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2114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Hosts juggle RSVPs, waitlists, payments, formats, and lineup changes across multiple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81C9F-BB6A-4E46-85C8-91EE0363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EEBF7-9E0E-4A06-8302-DB38792E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Tournaments feel fragile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340E0-A961-4548-9280-29397D60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2114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Brackets, scores, judges, and streams can become spreadsheets and screenshots under pressure.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222D7-31C2-42C3-BF98-A903827E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146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BEDB0-B4DA-41FA-B959-74F7CE3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242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Results disappear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78F69-DE10-4219-8791-60B6CA6A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43300"/>
            <a:ext cx="2019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The event ends, but rankings, player history, and meta learning rarely compound.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EB7A9-06E5-421C-85DD-D565F289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SPINDEX Malaysia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BBFD3-D98F-4067-8C39-33F53563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8559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007D61-F322-4C0A-B2D6-2F30F879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D08B8-8ACC-4855-9444-408C6DD3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Spindex turns casual play into a repeatable community loop.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152bc4166455b"/>
          <a:srcRect xmlns:a="http://schemas.openxmlformats.org/drawingml/2006/main" l="0" t="4887" r="0" b="4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50673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DD233-4C4B-451C-BFA0-AA4616CE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The product should not start as a broad social network. It starts with real-world play, then uses every event to create the next 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6F450-CCB7-4593-AD81-BCB4C692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5143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6B511-72AF-478F-8EB3-CBD455E4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49E9C-B267-435D-B593-98ADAFFF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908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Create a gathering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413CD-ABFC-461A-BF15-C9A60139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6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State, venue, time, capacity, fee, notes, join/waitlist.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C6260-7192-43EE-93A0-B0BE2A1E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5143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C48D3-BB12-4E0D-B27D-4DCBCCB3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CE8AB-123E-47C6-A66A-2BF30081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71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Convert interest into lineup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76E93-E51C-4F3B-B44F-AF24123D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6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Joined players become tournament and partner battle rosters.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B9E10-B2EC-42B0-8877-1A5D0F3F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5143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135C6-C40D-44EB-9BCE-D52CD4F6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E58F2-30C5-4684-8BEE-A84BB0A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Run the event 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04307-650D-4F3B-91EB-89CC1B44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6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Judges score; public displays and BEYLIVE update.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9D1B7-F0E3-4F8D-92E6-9DF88CD0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5143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06DF7-D34B-4F30-A624-575E8552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BB9C6-5CFC-423F-B52D-66CA238E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339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Feed the community 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5225-5EFF-4F91-A063-816ECF18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10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6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Profiles, stars, rankings, combos, and content carry forward.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A4763-FD4B-4EA9-BECF-12E348F5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Existing app surface: catalog, builder, rankings, tournaments, BEYLIVE, gatherings, market, battle.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8AC4D-D938-4586-AD3B-A46143B5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SPINDEX Malaysia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564DF-B736-4655-8754-ABB364A4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8611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012CF-54CA-46B6-B1F3-96B26796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rPr>
              <a:t>GATHERINGS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9746E-F1AB-493F-8669-1BAB7DF1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Gatherings are the recurring top of the funnel.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564B1-FB02-484C-8A78-BA7F9F86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For a Reclub-style launch, gatherings should become the weekly habit: low-friction meetups that identify active players and seed future tournaments.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5D25D-8D29-4430-BA2E-BFE34930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1494F-2682-4D5C-B9C0-8F19CC19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Host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6DC43-466A-4333-983C-5A7F7B1A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876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Create a public meetup with state, venue, date/time, free or paid fee, capacity, and host notes.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7E756-8416-42A8-A0ED-BF12E388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6FB7C-E23A-4D83-9862-FE30846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Attendance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FDCAF-BE47-4F60-A1FE-547B5288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876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Players join, waitlist, leave, and share the gathering page. Hosts can cancel or edit event details.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A97B9-1C27-4058-B656-B36874F0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B4937-ECA3-4584-9D1B-67BA1C58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0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B020"/>
                </a:solidFill>
                <a:latin typeface="Helvetica Neue"/>
                <a:ea typeface="Helvetica Neue"/>
                <a:cs typeface="Helvetica Neue"/>
              </a:rPr>
              <a:t>Tournament bridge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44BE2-2091-4656-B930-D19F4DF0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2876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A strong gathering becomes a lineup source for brackets, partner battles, and BEYLIVE events.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82B08-F5C9-4A84-B001-5260CBF3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10299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5070A"/>
          </a:solidFill>
          <a:ln xmlns:a="http://schemas.openxmlformats.org/drawingml/2006/main" w="9525">
            <a:solidFill>
              <a:srgbClr val="05070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A60B6-BCFF-4155-B5AA-3A0CDA6F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Launch motion: weekly casual gatherings first, monthly flagship tournaments second.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5AAE9-5560-4553-871F-319EC2FB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SPINDEX Malaysia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2CEDF-CFE5-4A1A-A494-172DD590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3949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076F66-2D48-4855-A91D-4985C57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rPr>
              <a:t>TOURNAMENTS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84AA5-1090-48E0-BF27-A098E8A5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tournament engine is the wedge.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d43b5e20744d9"/>
          <a:srcRect xmlns:a="http://schemas.openxmlformats.org/drawingml/2006/main" l="0" t="5053" r="0" b="50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19250"/>
            <a:ext cx="5391150" cy="3028950"/>
          </a:xfrm>
          <a:prstGeom xmlns:a="http://schemas.openxmlformats.org/drawingml/2006/main" prst="roundRect">
            <a:avLst>
              <a:gd name="adj" fmla="val 2516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4aef4bcb04c58"/>
          <a:srcRect xmlns:a="http://schemas.openxmlformats.org/drawingml/2006/main" l="0" t="6587" r="0" b="65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619250"/>
            <a:ext cx="5581650" cy="3028950"/>
          </a:xfrm>
          <a:prstGeom xmlns:a="http://schemas.openxmlformats.org/drawingml/2006/main" prst="roundRect">
            <a:avLst>
              <a:gd name="adj" fmla="val 251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B5D4F-7C34-42A4-8A0F-C66E92F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Formats already represented in the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5A1FE-38F7-4C96-96E2-4A75879A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562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E5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99341-A413-468C-BDDB-B46C9218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Single elim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F5327-52A0-4159-9DDD-EFEE68F3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76875"/>
            <a:ext cx="1562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8D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B7644-4B07-4F2F-AE0D-9D3E9A7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530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Double elim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F45DE-1F2C-46AE-A2FD-2B7377DA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76875"/>
            <a:ext cx="1562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E5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BDBF6-2709-4FA1-AEDB-F1AA8419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530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Round robin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C9FF8-3FF1-42D2-9A3D-99B977BD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76875"/>
            <a:ext cx="1562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8D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960C8-EBCB-4A61-965E-3ED72473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530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Swiss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D59B4-9650-4432-B9A1-A1D6B854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1562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E5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08987-F7B3-42C4-B65F-617C354C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Free-for-all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BAA1F-5355-41D4-BB8B-825EC3A7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876925"/>
            <a:ext cx="1562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8D9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853E2-C6BE-4821-8D0E-AE06C43E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53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Leaderboard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8E94A-147E-47CA-9832-BBD880E0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876925"/>
            <a:ext cx="1562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E5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41757-B6AE-47B2-A9C0-F805026B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53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Partner battle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F0760-B6AB-4CC6-AA45-81FAFBC2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673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Why it matters: events need credible structure before they need heavy social features.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E399E-8BFA-4629-955A-7425009F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SPINDEX Malaysia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0FCF6-CB2D-48A1-956A-BEA85593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2139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F85A5-B64C-4EE0-B3C0-26DB2BE8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rPr>
              <a:t>LIVE EVENT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DC0A8-35F4-4AF0-A050-57F86CC1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BEYLIVE makes a local event feel official.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4ddfa8ff246de"/>
          <a:srcRect xmlns:a="http://schemas.openxmlformats.org/drawingml/2006/main" l="0" t="178" r="0" b="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24000"/>
            <a:ext cx="535305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c3bf2a8954ea6"/>
          <a:srcRect xmlns:a="http://schemas.openxmlformats.org/drawingml/2006/main" l="0" t="2055" r="0" b="2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524000"/>
            <a:ext cx="55626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7467E-25BE-4717-BFD0-AFC30C7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6C184-0F03-46E8-8F6E-3A5B47DB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Public arena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E6C95-BC0F-42EE-8773-2B152786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Matches, standings, champions, team IDs.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735B0-825E-4F7B-8A9B-E5816D10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6730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E3B68-BDA6-4B13-9B6B-5EAA8F2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768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Judge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214BB-C271-42FD-BD3D-0CCBD62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959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Score, undo, advance, and finalize.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FBA8D-2FAA-49C5-853C-76B88E53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6730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03BAD-6223-4836-9A88-6C021572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0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B020"/>
                </a:solidFill>
                <a:latin typeface="Helvetica Neue"/>
                <a:ea typeface="Helvetica Neue"/>
                <a:cs typeface="Helvetica Neue"/>
              </a:rPr>
              <a:t>Player 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4E0FD-6D79-4E26-ADCB-69F60C4B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959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QR badges and phone camera scan.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04191-2BDB-4B43-B62E-DCB8BFA6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1670F-CAAA-42F6-B2AE-4678110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768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2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5252"/>
                </a:solidFill>
                <a:latin typeface="Helvetica Neue"/>
                <a:ea typeface="Helvetica Neue"/>
                <a:cs typeface="Helvetica Neue"/>
              </a:rPr>
              <a:t>Stream-ready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9D801-41C0-40A9-B4AE-6EA3E9C8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959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Event and stadium video feeds.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9DA9A-A467-45F3-81EB-5AD3EFEB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SPINDEX Malaysia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C8555-AA01-48B0-8905-554781A5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4282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8E5C2-BD67-4043-9854-D1C7E574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rPr>
              <a:t>COMMUNITY FLYWHEEL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B907D-4CBB-4C38-95B5-CE590BFF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Every event compounds into community data.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f758def7f4897"/>
          <a:srcRect xmlns:a="http://schemas.openxmlformats.org/drawingml/2006/main" l="0" t="1541" r="0" b="15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62100"/>
            <a:ext cx="5314950" cy="3219450"/>
          </a:xfrm>
          <a:prstGeom xmlns:a="http://schemas.openxmlformats.org/drawingml/2006/main" prst="roundRect">
            <a:avLst>
              <a:gd name="adj" fmla="val 2367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ec9683e8248c4"/>
          <a:srcRect xmlns:a="http://schemas.openxmlformats.org/drawingml/2006/main" l="0" t="4169" r="0" b="4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562100"/>
            <a:ext cx="5619750" cy="3219450"/>
          </a:xfrm>
          <a:prstGeom xmlns:a="http://schemas.openxmlformats.org/drawingml/2006/main" prst="roundRect">
            <a:avLst>
              <a:gd name="adj" fmla="val 23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B6073-6C2B-40BF-82ED-E162512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24574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88AB5-6669-4CAF-B6C0-CFD0906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331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064FC-42A8-45A3-B588-AD19D6B5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parts in the 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25C27-1E0F-49E7-A544-CBB8F38D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24574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E275B-B00E-43FF-B5B9-D2155EC0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530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203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2BCAE-5311-4EA2-BCA0-06E0177C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15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blade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1DD83-4796-482F-8312-BD50D73B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24574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FD0C7-C3A5-48A5-A776-79A396FB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530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SPX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2BFD6-069C-47A9-A587-DF91025B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15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persistent player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B7DB0-AA5D-4159-B450-7CE5AF5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4574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9218D-C503-4965-B673-FCD4E04D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530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Stars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A1A90-5355-4BFA-8BAE-8DDEA0BC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15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wins and battle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01A10-8F97-4BDA-B250-3D9D88A6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SPINDEX Malaysia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D991E-75F0-4724-9223-B5491879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6464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05A052-8EFC-4085-82C1-606539E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A5E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A8DAF-0B23-4C8E-A491-C4F903D5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The first revenue lanes follow the event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4C326-C6B0-4012-9579-3DC730CB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1277600" cy="39433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8C4D5-AABF-4A05-8872-45EE0880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Revenue 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ECAE9-D8DD-4A83-922A-A5B98DAA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85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What it sells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E9B65-3367-4B80-9177-921B3D0B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Primary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811AF-BEDD-4F6C-9362-E0380FCC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7061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46462-C145-4203-A610-8E2841B5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Organizer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23A21-E290-4D60-A345-2F19AF1A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Subscription for hosts, shops, and clubs that run recurring gatherings and tournaments.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A5CBC-04F8-4155-B2CE-7B71CCB5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19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Host retention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D4D4F-4D34-4F05-9706-8A7A9D2E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07061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8EA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87198-DFEF-4ECB-9ED3-36525463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Tournament registration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E2C4A-05D0-4297-9A0B-974CA57A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861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Entry collection, platform fee, paid brackets, and premium event pages.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A5AD7-E045-408D-A40F-0BEE0315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GMV + fee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4F82C-B0B3-4E4E-9FE9-459AB20A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7061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EB94C-E3F1-4C26-9228-DAA16085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Sponsorship packages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FA445-5492-4031-A84C-CD40EF0E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Sponsored cups, prize pools, store promotions, featured leaderboards, and media assets.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C3CA9-DA91-4F5B-A606-D22C2716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67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Brand budget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D0174-5D38-46A0-9C36-6B5D501B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7061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8EA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4B1AC-7BA2-43F0-9245-CDB703A6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Marketplace commission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4FAC3-E2B4-4A7C-AF65-6561375D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33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Buy/sell/pre-order parts once transactions move beyond preview.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F32DD-8BB9-4E52-9A20-74C7A878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91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Take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651B1-5FE0-45AB-B9EE-A72FCDD3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Start monetization after the pilot proves repeat hosts, recurring event attendance, and sponsor-ready event media.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4EBCB-AB5A-4E75-B80C-B0449FAF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SPINDEX Malaysia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3F478-BD5D-4862-9175-734E58BC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7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6590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ecb694df44245"/>
          <a:stretch xmlns:a="http://schemas.openxmlformats.org/drawingml/2006/main"/>
        </p:blipFill>
        <p:spPr>
          <a:xfrm xmlns:a="http://schemas.openxmlformats.org/drawingml/2006/main">
            <a:off x="516838" y="419100"/>
            <a:ext cx="2662025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DFA51-6D35-4666-A83C-E4EE9AAA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781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Pilot Spindex as Malaysia's Beyblade X event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91EE5-8B9A-4B4D-9ECB-C919DDDC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1432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3"/>
          </a:solidFill>
          <a:ln xmlns:a="http://schemas.openxmlformats.org/drawingml/2006/main" w="9525">
            <a:solidFill>
              <a:srgbClr val="00E5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333B1-D596-4254-8BEF-11480CB5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E58F"/>
                </a:solidFill>
                <a:latin typeface="Helvetica Neue"/>
                <a:ea typeface="Helvetica Neue"/>
                <a:cs typeface="Helvetica Neue"/>
              </a:rPr>
              <a:t>0-30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11850-D4BA-45A7-9037-21FC5D03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Recruit host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C0C59-5B3D-46C4-B7A9-5CDCFCC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647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B9C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B9C5D4"/>
                </a:solidFill>
                <a:latin typeface="Helvetica Neue"/>
                <a:ea typeface="Helvetica Neue"/>
                <a:cs typeface="Helvetica Neue"/>
              </a:rPr>
              <a:t>Lock 3-5 shop or club hosts, publish the first gathering calendar, and convert community lists into profiles.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F95E6-2A04-4131-8189-158EA149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31432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3"/>
          </a:solidFill>
          <a:ln xmlns:a="http://schemas.openxmlformats.org/drawingml/2006/main" w="9525">
            <a:solidFill>
              <a:srgbClr val="38D9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E48A0-6C5B-4AC5-95D2-CA291310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8D9FF"/>
                </a:solidFill>
                <a:latin typeface="Helvetica Neue"/>
                <a:ea typeface="Helvetica Neue"/>
                <a:cs typeface="Helvetica Neue"/>
              </a:rPr>
              <a:t>30-60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84BB2-ABA6-489B-B92A-E34F1D68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 monthly Cup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72204-AD4A-41BA-A837-9F23DAA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00550"/>
            <a:ext cx="2647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B9C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B9C5D4"/>
                </a:solidFill>
                <a:latin typeface="Helvetica Neue"/>
                <a:ea typeface="Helvetica Neue"/>
                <a:cs typeface="Helvetica Neue"/>
              </a:rPr>
              <a:t>Use BEYLIVE, partner battle, standings, and event pages to make one flagship tournament repeatable.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622A3-1728-4BE4-8840-2981D7E7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0"/>
            <a:ext cx="31432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3"/>
          </a:solidFill>
          <a:ln xmlns:a="http://schemas.openxmlformats.org/drawingml/2006/main" w="9525">
            <a:solidFill>
              <a:srgbClr val="FFB0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EF390-BD5B-4A76-8818-6CD5D80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0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B020"/>
                </a:solidFill>
                <a:latin typeface="Helvetica Neue"/>
                <a:ea typeface="Helvetica Neue"/>
                <a:cs typeface="Helvetica Neue"/>
              </a:rPr>
              <a:t>60-90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BBF42-5720-4AE5-BD7C-C665BF9B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Launch season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8A961-CE47-47BE-8635-B20B2576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2647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B9C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0">
                <a:solidFill>
                  <a:srgbClr val="B9C5D4"/>
                </a:solidFill>
                <a:latin typeface="Helvetica Neue"/>
                <a:ea typeface="Helvetica Neue"/>
                <a:cs typeface="Helvetica Neue"/>
              </a:rPr>
              <a:t>City leaderboards, sponsor placements, prize pools, and marketplace waitlist tests.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A6C1F-FA90-4202-8FCD-D9E1838E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Ask: approve the pilot, secure venue/store partners, and package sponsors around monthly tournaments.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A29B0-72D0-4932-A300-9429A99C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D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7DEE8"/>
                </a:solidFill>
                <a:latin typeface="Helvetica Neue"/>
                <a:ea typeface="Helvetica Neue"/>
                <a:cs typeface="Helvetica Neue"/>
              </a:rPr>
              <a:t>SPINDEX Malaysia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2CBAC-8817-476F-BBD9-51B21CD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AA6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AA6B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96882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2026-07-28T09:01:00.6380000Z</dcterms:created>
  <dcterms:modified xsi:type="dcterms:W3CDTF">2026-07-28T09:01:00.6380000Z</dcterms:modified>
</coreProperties>
</file>